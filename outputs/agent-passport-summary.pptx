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0890bae6604569" /><Relationship Type="http://schemas.openxmlformats.org/officeDocument/2006/relationships/extended-properties" Target="/docProps/app.xml" Id="R6d7901fe8f794e61" /><Relationship Type="http://schemas.openxmlformats.org/officeDocument/2006/relationships/officeDocument" Target="/ppt/presentation.xml" Id="R55f5d6c6044449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c56f7ce4124f2d"/>
  </p:sldMasterIdLst>
  <p:notesMasterIdLst>
    <p:notesMasterId xmlns:r="http://schemas.openxmlformats.org/officeDocument/2006/relationships" r:id="R280b4ef5a241465d"/>
  </p:notesMasterIdLst>
  <p:sldIdLst>
    <p:sldId xmlns:r="http://schemas.openxmlformats.org/officeDocument/2006/relationships" id="256" r:id="Rcc3f021002194d10"/>
    <p:sldId xmlns:r="http://schemas.openxmlformats.org/officeDocument/2006/relationships" id="257" r:id="R7e86afba77d54c85"/>
    <p:sldId xmlns:r="http://schemas.openxmlformats.org/officeDocument/2006/relationships" id="258" r:id="Rb81c9498ad374a66"/>
    <p:sldId xmlns:r="http://schemas.openxmlformats.org/officeDocument/2006/relationships" id="259" r:id="R05ab45fdb2654efb"/>
    <p:sldId xmlns:r="http://schemas.openxmlformats.org/officeDocument/2006/relationships" id="260" r:id="R82fa6033428a4b7b"/>
    <p:sldId xmlns:r="http://schemas.openxmlformats.org/officeDocument/2006/relationships" id="261" r:id="R73a9e64b170d4db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e171eac43a4f1e" /><Relationship Type="http://schemas.openxmlformats.org/officeDocument/2006/relationships/slideMaster" Target="/ppt/slideMasters/slideMaster1.xml" Id="R4ac56f7ce4124f2d" /><Relationship Type="http://schemas.openxmlformats.org/officeDocument/2006/relationships/notesMaster" Target="/ppt/notesMasters/notesMaster1.xml" Id="R280b4ef5a241465d" /><Relationship Type="http://schemas.openxmlformats.org/officeDocument/2006/relationships/presProps" Target="/ppt/presProps.xml" Id="R5f017b8821c0475e" /><Relationship Type="http://schemas.openxmlformats.org/officeDocument/2006/relationships/tableStyles" Target="/ppt/tableStyles.xml" Id="R44b674da7fd24cf7" /><Relationship Type="http://schemas.openxmlformats.org/officeDocument/2006/relationships/slide" Target="/ppt/slides/slide1.xml" Id="Rcc3f021002194d10" /><Relationship Type="http://schemas.openxmlformats.org/officeDocument/2006/relationships/slide" Target="/ppt/slides/slide2.xml" Id="R7e86afba77d54c85" /><Relationship Type="http://schemas.openxmlformats.org/officeDocument/2006/relationships/slide" Target="/ppt/slides/slide3.xml" Id="Rb81c9498ad374a66" /><Relationship Type="http://schemas.openxmlformats.org/officeDocument/2006/relationships/slide" Target="/ppt/slides/slide4.xml" Id="R05ab45fdb2654efb" /><Relationship Type="http://schemas.openxmlformats.org/officeDocument/2006/relationships/slide" Target="/ppt/slides/slide5.xml" Id="R82fa6033428a4b7b" /><Relationship Type="http://schemas.openxmlformats.org/officeDocument/2006/relationships/slide" Target="/ppt/slides/slide6.xml" Id="R73a9e64b170d4d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cc553c6df144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c8e629478147ad" /><Relationship Type="http://schemas.openxmlformats.org/officeDocument/2006/relationships/notesMaster" Target="/ppt/notesMasters/notesMaster1.xml" Id="Rfd91f43cc63a49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e0e7eb1cbc4b5b" /><Relationship Type="http://schemas.openxmlformats.org/officeDocument/2006/relationships/notesMaster" Target="/ppt/notesMasters/notesMaster1.xml" Id="R7b0ebad29cc54c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540d2c09e14d1a" /><Relationship Type="http://schemas.openxmlformats.org/officeDocument/2006/relationships/notesMaster" Target="/ppt/notesMasters/notesMaster1.xml" Id="R55c6e191220d42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2f628f5e554783" /><Relationship Type="http://schemas.openxmlformats.org/officeDocument/2006/relationships/notesMaster" Target="/ppt/notesMasters/notesMaster1.xml" Id="R790dea8a479941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25b6c6d43c4e64" /><Relationship Type="http://schemas.openxmlformats.org/officeDocument/2006/relationships/notesMaster" Target="/ppt/notesMasters/notesMaster1.xml" Id="R711ea10397cf4a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c8a05d44b845e8" /><Relationship Type="http://schemas.openxmlformats.org/officeDocument/2006/relationships/notesMaster" Target="/ppt/notesMasters/notesMaster1.xml" Id="R8fb8e4c9bc1b45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1c00da769e49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dcf2c66bdc4e9e" /><Relationship Type="http://schemas.openxmlformats.org/officeDocument/2006/relationships/slideLayout" Target="/ppt/slideLayouts/slideLayout1.xml" Id="R35689a77bf0e41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689a77bf0e41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24fc59b004076" /><Relationship Type="http://schemas.openxmlformats.org/officeDocument/2006/relationships/notesSlide" Target="/ppt/notesSlides/notesSlide1.xml" Id="R96807626bebf40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2993903974338" /><Relationship Type="http://schemas.openxmlformats.org/officeDocument/2006/relationships/notesSlide" Target="/ppt/notesSlides/notesSlide2.xml" Id="R4c471d3965c546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b258c6b914507" /><Relationship Type="http://schemas.openxmlformats.org/officeDocument/2006/relationships/notesSlide" Target="/ppt/notesSlides/notesSlide3.xml" Id="R27c942f51f6447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7849324db4de2" /><Relationship Type="http://schemas.openxmlformats.org/officeDocument/2006/relationships/notesSlide" Target="/ppt/notesSlides/notesSlide4.xml" Id="R69e2181bf62740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039843902b4864" /><Relationship Type="http://schemas.openxmlformats.org/officeDocument/2006/relationships/notesSlide" Target="/ppt/notesSlides/notesSlide5.xml" Id="R17979a1dfe6445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2a6b93a404337" /><Relationship Type="http://schemas.openxmlformats.org/officeDocument/2006/relationships/notesSlide" Target="/ppt/notesSlides/notesSlide6.xml" Id="R8f1b7e986a5542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8C1097-76A4-4816-B703-A9DBE468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838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4FBF7"/>
                </a:solidFill>
              </a:defRPr>
            </a:pPr>
            <a:r>
              <a:rPr sz="4350" b="1">
                <a:solidFill>
                  <a:srgbClr val="F4FBF7"/>
                </a:solidFill>
              </a:rPr>
              <a:t>Agent Passport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D569F-F302-49A8-9325-42AB276E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7239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AC2B8"/>
                </a:solidFill>
              </a:defRPr>
            </a:pPr>
            <a:r>
              <a:rPr sz="2100" b="0">
                <a:solidFill>
                  <a:srgbClr val="AAC2B8"/>
                </a:solidFill>
              </a:rPr>
              <a:t>Runtime identity, delegation verification, policy enforcement, scoped credentials, and audit for enterprise AI agents.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B549A5-05BC-4245-ADD9-D21B39FE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914400"/>
            <a:ext cx="3143250" cy="40005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62B25"/>
          </a:solidFill>
          <a:ln xmlns:a="http://schemas.openxmlformats.org/drawingml/2006/main" w="9525">
            <a:solidFill>
              <a:srgbClr val="2E4A4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14981-53C2-44F1-AC5C-85D21C76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57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7F3D0"/>
                </a:solidFill>
              </a:defRPr>
            </a:pPr>
            <a:r>
              <a:rPr sz="1800" b="1">
                <a:solidFill>
                  <a:srgbClr val="A7F3D0"/>
                </a:solidFill>
              </a:rPr>
              <a:t>Holiday check-in outage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377ED-7AE6-4C3A-97D3-7BD07961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2333625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BF7"/>
                </a:solidFill>
              </a:defRPr>
            </a:pPr>
            <a:r>
              <a:rPr sz="1800" b="0">
                <a:solidFill>
                  <a:srgbClr val="F4FBF7"/>
                </a:solidFill>
              </a:rPr>
              <a:t>18,400 passengers affected</a:t>
            </a:r>
          </a:p>
          <a:p xmlns:a="http://schemas.openxmlformats.org/drawingml/2006/main">
            <a:pPr algn="l">
              <a:defRPr sz="1800" b="0">
                <a:solidFill>
                  <a:srgbClr val="F4FBF7"/>
                </a:solidFill>
              </a:defRPr>
            </a:pPr>
            <a:r>
              <a:rPr sz="1800" b="0">
                <a:solidFill>
                  <a:srgbClr val="F4FBF7"/>
                </a:solidFill>
              </a:rPr>
              <a:t>312 departures exposed</a:t>
            </a:r>
          </a:p>
          <a:p xmlns:a="http://schemas.openxmlformats.org/drawingml/2006/main">
            <a:pPr algn="l">
              <a:defRPr sz="1800" b="0">
                <a:solidFill>
                  <a:srgbClr val="F4FBF7"/>
                </a:solidFill>
              </a:defRPr>
            </a:pPr>
            <a:r>
              <a:rPr sz="1800" b="0">
                <a:solidFill>
                  <a:srgbClr val="F4FBF7"/>
                </a:solidFill>
              </a:rPr>
              <a:t>$7.8M disruption risk</a:t>
            </a:r>
          </a:p>
          <a:p xmlns:a="http://schemas.openxmlformats.org/drawingml/2006/main">
            <a:pPr algn="l">
              <a:defRPr sz="1800" b="0">
                <a:solidFill>
                  <a:srgbClr val="F4FBF7"/>
                </a:solidFill>
              </a:defRPr>
            </a:pPr>
            <a:r>
              <a:rPr sz="1800" b="0">
                <a:solidFill>
                  <a:srgbClr val="F4FBF7"/>
                </a:solidFill>
              </a:rPr>
              <a:t>Recovered in 12 minutes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2AA80-E18A-4E4E-9BA7-5D732345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434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955"/>
          </a:solidFill>
          <a:ln xmlns:a="http://schemas.openxmlformats.org/drawingml/2006/main" w="0">
            <a:solidFill>
              <a:srgbClr val="F7B9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3066E5-17DF-4D00-AF2C-FD8319C7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BF7"/>
                </a:solidFill>
              </a:defRPr>
            </a:pPr>
            <a:r>
              <a:rPr sz="1800" b="0">
                <a:solidFill>
                  <a:srgbClr val="F4FBF7"/>
                </a:solidFill>
              </a:rPr>
              <a:t>Built as a runnable React + TypeScript demo with backend-like services and tests.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87BAD1-2362-4EB1-9127-32758798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C2B8"/>
                </a:solidFill>
              </a:defRPr>
            </a:pPr>
            <a:r>
              <a:rPr sz="1050" b="0">
                <a:solidFill>
                  <a:srgbClr val="AAC2B8"/>
                </a:solidFill>
              </a:rPr>
              <a:t>Airline Check-In Outage Demo  |  1/6</a:t>
            </a:r>
          </a:p>
        </p:txBody>
      </p:sp>
    </p:spTree>
    <p:extLst>
      <p:ext uri="{BB962C8B-B14F-4D97-AF65-F5344CB8AC3E}">
        <p14:creationId xmlns:p14="http://schemas.microsoft.com/office/powerpoint/2010/main" val="18889028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1732A7-8673-41BA-AE10-E188F6F4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D69E"/>
                </a:solidFill>
              </a:defRPr>
            </a:pPr>
            <a:r>
              <a:rPr sz="1200" b="1">
                <a:solidFill>
                  <a:srgbClr val="55D69E"/>
                </a:solidFill>
              </a:rPr>
              <a:t>AGENT PASSPORT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7B9B6-2BE7-4756-B9B0-42EEE86C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4FBF7"/>
                </a:solidFill>
              </a:defRPr>
            </a:pPr>
            <a:r>
              <a:rPr sz="3000" b="1">
                <a:solidFill>
                  <a:srgbClr val="F4FBF7"/>
                </a:solidFill>
              </a:rPr>
              <a:t>Why this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D89A62-0D2F-4433-814F-4F3052D1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9E"/>
          </a:solidFill>
          <a:ln xmlns:a="http://schemas.openxmlformats.org/drawingml/2006/main" w="0">
            <a:solidFill>
              <a:srgbClr val="55D69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81AC2-BE4D-4D10-8191-6306AD12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01C"/>
          </a:solidFill>
          <a:ln xmlns:a="http://schemas.openxmlformats.org/drawingml/2006/main" w="9525">
            <a:solidFill>
              <a:srgbClr val="2E4A4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FB327-D2EB-43F3-90DA-AEABD5FF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9A43F4-35EF-4A87-A2B9-EC7AB86D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BF7"/>
                </a:solidFill>
              </a:defRPr>
            </a:pPr>
            <a:r>
              <a:rPr sz="1950" b="1">
                <a:solidFill>
                  <a:srgbClr val="F4FBF7"/>
                </a:solidFill>
              </a:rPr>
              <a:t>Unknown agents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8969B-1D9E-472A-946F-9A5B7F7C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434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C2B8"/>
                </a:solidFill>
              </a:defRPr>
            </a:pPr>
            <a:r>
              <a:rPr sz="1350" b="0">
                <a:solidFill>
                  <a:srgbClr val="AAC2B8"/>
                </a:solidFill>
              </a:rPr>
              <a:t>Enterprises cannot accept production changes from anonymous or unregistered AI workloads.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FA794-9658-47D2-9B27-D5BF9415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0025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01C"/>
          </a:solidFill>
          <a:ln xmlns:a="http://schemas.openxmlformats.org/drawingml/2006/main" w="9525">
            <a:solidFill>
              <a:srgbClr val="2E4A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C04AF-AA77-444A-AC6A-C1534E78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955"/>
          </a:solidFill>
          <a:ln xmlns:a="http://schemas.openxmlformats.org/drawingml/2006/main" w="0">
            <a:solidFill>
              <a:srgbClr val="F7B9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1F6F43-101D-44F0-84D5-E048A204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BF7"/>
                </a:solidFill>
              </a:defRPr>
            </a:pPr>
            <a:r>
              <a:rPr sz="1950" b="1">
                <a:solidFill>
                  <a:srgbClr val="F4FBF7"/>
                </a:solidFill>
              </a:rPr>
              <a:t>Weak delegation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8EE7B-63D6-4960-879F-80FB250D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0350"/>
            <a:ext cx="434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C2B8"/>
                </a:solidFill>
              </a:defRPr>
            </a:pPr>
            <a:r>
              <a:rPr sz="1350" b="0">
                <a:solidFill>
                  <a:srgbClr val="AAC2B8"/>
                </a:solidFill>
              </a:rPr>
              <a:t>A chain of agents must prove who delegated whom, for which incident, and with what authority.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C1B6BC-246B-4998-B561-54B61E23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01C"/>
          </a:solidFill>
          <a:ln xmlns:a="http://schemas.openxmlformats.org/drawingml/2006/main" w="9525">
            <a:solidFill>
              <a:srgbClr val="2E4A4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33A6B7-5239-4A2B-A04F-55EBCB51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B7FF"/>
          </a:solidFill>
          <a:ln xmlns:a="http://schemas.openxmlformats.org/drawingml/2006/main" w="0">
            <a:solidFill>
              <a:srgbClr val="73B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08844A-34DB-4786-BCC9-7520F086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BF7"/>
                </a:solidFill>
              </a:defRPr>
            </a:pPr>
            <a:r>
              <a:rPr sz="1950" b="1">
                <a:solidFill>
                  <a:srgbClr val="F4FBF7"/>
                </a:solidFill>
              </a:rPr>
              <a:t>High-risk tools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D3C489-5888-41F4-BDE3-83567A6D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434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C2B8"/>
                </a:solidFill>
              </a:defRPr>
            </a:pPr>
            <a:r>
              <a:rPr sz="1350" b="0">
                <a:solidFill>
                  <a:srgbClr val="AAC2B8"/>
                </a:solidFill>
              </a:rPr>
              <a:t>Firewall rollback and secrets access require policy gates, human approval, and tight scope.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6A0113-B7A5-4BFC-B18A-CCC17E98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1475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01C"/>
          </a:solidFill>
          <a:ln xmlns:a="http://schemas.openxmlformats.org/drawingml/2006/main" w="9525">
            <a:solidFill>
              <a:srgbClr val="2E4A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683AC8-D4AE-41B7-BE9C-F75AB534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433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9E"/>
          </a:solidFill>
          <a:ln xmlns:a="http://schemas.openxmlformats.org/drawingml/2006/main" w="0">
            <a:solidFill>
              <a:srgbClr val="55D69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5853BC-5660-4F17-B4B4-562CE258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148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BF7"/>
                </a:solidFill>
              </a:defRPr>
            </a:pPr>
            <a:r>
              <a:rPr sz="1950" b="1">
                <a:solidFill>
                  <a:srgbClr val="F4FBF7"/>
                </a:solidFill>
              </a:rPr>
              <a:t>Audit pressure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A1BAC2-570D-48FB-B141-47D852AC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14850"/>
            <a:ext cx="434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C2B8"/>
                </a:solidFill>
              </a:defRPr>
            </a:pPr>
            <a:r>
              <a:rPr sz="1350" b="0">
                <a:solidFill>
                  <a:srgbClr val="AAC2B8"/>
                </a:solidFill>
              </a:rPr>
              <a:t>Security reviewers need a complete timeline: identity, runtime, action, decision, reason, approval.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596BDC-243E-4DAC-97EF-C19A2D41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C2B8"/>
                </a:solidFill>
              </a:defRPr>
            </a:pPr>
            <a:r>
              <a:rPr sz="1050" b="0">
                <a:solidFill>
                  <a:srgbClr val="AAC2B8"/>
                </a:solidFill>
              </a:rPr>
              <a:t>Airline Check-In Outage Demo  |  2/6</a:t>
            </a:r>
          </a:p>
        </p:txBody>
      </p:sp>
    </p:spTree>
    <p:extLst>
      <p:ext uri="{BB962C8B-B14F-4D97-AF65-F5344CB8AC3E}">
        <p14:creationId xmlns:p14="http://schemas.microsoft.com/office/powerpoint/2010/main" val="84434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C408A6-F6FC-4FC0-AA42-BF6A6FD1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D69E"/>
                </a:solidFill>
              </a:defRPr>
            </a:pPr>
            <a:r>
              <a:rPr sz="1200" b="1">
                <a:solidFill>
                  <a:srgbClr val="55D69E"/>
                </a:solidFill>
              </a:rPr>
              <a:t>AGENT PASSPORT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66520-6FD7-4DD8-835D-5722841C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4FBF7"/>
                </a:solidFill>
              </a:defRPr>
            </a:pPr>
            <a:r>
              <a:rPr sz="3000" b="1">
                <a:solidFill>
                  <a:srgbClr val="F4FBF7"/>
                </a:solidFill>
              </a:rPr>
              <a:t>Control plane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5112FB-6CA2-4648-93E6-60C7E42B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9E"/>
          </a:solidFill>
          <a:ln xmlns:a="http://schemas.openxmlformats.org/drawingml/2006/main" w="0">
            <a:solidFill>
              <a:srgbClr val="55D69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5CE573-B462-4D18-994D-B49E059A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0"/>
            <a:ext cx="22479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62B25"/>
          </a:solidFill>
          <a:ln xmlns:a="http://schemas.openxmlformats.org/drawingml/2006/main" w="9525">
            <a:solidFill>
              <a:srgbClr val="73B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1CCAB-B70E-43B3-B552-382436A9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3B7FF"/>
                </a:solidFill>
              </a:defRPr>
            </a:pPr>
            <a:r>
              <a:rPr sz="1650" b="1">
                <a:solidFill>
                  <a:srgbClr val="73B7FF"/>
                </a:solidFill>
              </a:rPr>
              <a:t>Agents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6C8746-E926-4139-88EE-566B42CF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1866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BF7"/>
                </a:solidFill>
              </a:defRPr>
            </a:pPr>
            <a:r>
              <a:rPr sz="1275" b="0">
                <a:solidFill>
                  <a:srgbClr val="F4FBF7"/>
                </a:solidFill>
              </a:rPr>
              <a:t>Monitoring, ServiceNow, Cloud, Network, Identity, Firewall, Airport Ops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4246E-471C-405F-A29E-173192DA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67000"/>
            <a:ext cx="22479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62B25"/>
          </a:solidFill>
          <a:ln xmlns:a="http://schemas.openxmlformats.org/drawingml/2006/main" w="9525">
            <a:solidFill>
              <a:srgbClr val="55D69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EB4F64-1CE3-4C2C-8284-2A301ED7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9560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D69E"/>
                </a:solidFill>
              </a:defRPr>
            </a:pPr>
            <a:r>
              <a:rPr sz="1650" b="1">
                <a:solidFill>
                  <a:srgbClr val="55D69E"/>
                </a:solidFill>
              </a:rPr>
              <a:t>Agent Passport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97A3A7-D1C0-445C-B22A-081E8F20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43300"/>
            <a:ext cx="1866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BF7"/>
                </a:solidFill>
              </a:defRPr>
            </a:pPr>
            <a:r>
              <a:rPr sz="1275" b="0">
                <a:solidFill>
                  <a:srgbClr val="F4FBF7"/>
                </a:solidFill>
              </a:rPr>
              <a:t>Verify workload, issue passport, enforce delegation and policy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C34819-D086-4391-9503-8CA4E299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22479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62B25"/>
          </a:solidFill>
          <a:ln xmlns:a="http://schemas.openxmlformats.org/drawingml/2006/main" w="9525">
            <a:solidFill>
              <a:srgbClr val="F7B9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32C2ED-6D3F-45E7-9C18-E6029048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9560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B955"/>
                </a:solidFill>
              </a:defRPr>
            </a:pPr>
            <a:r>
              <a:rPr sz="1650" b="1">
                <a:solidFill>
                  <a:srgbClr val="F7B955"/>
                </a:solidFill>
              </a:rPr>
              <a:t>Tool Gateway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53ACE5-D404-4667-8DB2-A2AE9F61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43300"/>
            <a:ext cx="1866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BF7"/>
                </a:solidFill>
              </a:defRPr>
            </a:pPr>
            <a:r>
              <a:rPr sz="1275" b="0">
                <a:solidFill>
                  <a:srgbClr val="F4FBF7"/>
                </a:solidFill>
              </a:rPr>
              <a:t>Evaluate tool calls, require approval, broker scoped credentials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FE6CF1-57A8-4FD9-BAD4-7F130E6A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67000"/>
            <a:ext cx="22479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62B2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42A277-12F8-49DB-828A-ABCEAB2F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9560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7F3D0"/>
                </a:solidFill>
              </a:defRPr>
            </a:pPr>
            <a:r>
              <a:rPr sz="1650" b="1">
                <a:solidFill>
                  <a:srgbClr val="A7F3D0"/>
                </a:solidFill>
              </a:rPr>
              <a:t>Enterprise Systems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4105C5-ED5E-43E8-95B0-A41E0646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543300"/>
            <a:ext cx="1866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BF7"/>
                </a:solidFill>
              </a:defRPr>
            </a:pPr>
            <a:r>
              <a:rPr sz="1275" b="0">
                <a:solidFill>
                  <a:srgbClr val="F4FBF7"/>
                </a:solidFill>
              </a:rPr>
              <a:t>Identity logs, firewall policy, ServiceNow, airport operations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41DFDD-43DC-4FC3-914D-C9420EF2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671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42"/>
          </a:solidFill>
          <a:ln xmlns:a="http://schemas.openxmlformats.org/drawingml/2006/main" w="0">
            <a:solidFill>
              <a:srgbClr val="2E4A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2E9CCD-B673-41E6-8F18-FF1FF7E4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3909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E4A42"/>
          </a:solidFill>
          <a:ln xmlns:a="http://schemas.openxmlformats.org/drawingml/2006/main" w="0">
            <a:solidFill>
              <a:srgbClr val="2E4A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A3708B-20A1-45A8-BA73-4216D6BB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671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42"/>
          </a:solidFill>
          <a:ln xmlns:a="http://schemas.openxmlformats.org/drawingml/2006/main" w="0">
            <a:solidFill>
              <a:srgbClr val="2E4A4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CEC7C9-22E0-4442-B294-320D48BD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3909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E4A42"/>
          </a:solidFill>
          <a:ln xmlns:a="http://schemas.openxmlformats.org/drawingml/2006/main" w="0">
            <a:solidFill>
              <a:srgbClr val="2E4A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6250E4-DCF8-47C0-9112-35ECCD5D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671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42"/>
          </a:solidFill>
          <a:ln xmlns:a="http://schemas.openxmlformats.org/drawingml/2006/main" w="0">
            <a:solidFill>
              <a:srgbClr val="2E4A4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212C0B-BB9A-4A34-BF9E-C30CDA15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3909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E4A42"/>
          </a:solidFill>
          <a:ln xmlns:a="http://schemas.openxmlformats.org/drawingml/2006/main" w="0">
            <a:solidFill>
              <a:srgbClr val="2E4A4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89EF5F-FC74-45EA-A60B-62349371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339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AAC2B8"/>
                </a:solidFill>
              </a:defRPr>
            </a:pPr>
            <a:r>
              <a:rPr sz="1875" b="0">
                <a:solidFill>
                  <a:srgbClr val="AAC2B8"/>
                </a:solidFill>
              </a:rPr>
              <a:t>The passport is not just a token. It is the decision record that binds identity, runtime, delegation, incident, allowed tools, approval, and audit.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69BEA1-4186-4974-A00F-3824B5C4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C2B8"/>
                </a:solidFill>
              </a:defRPr>
            </a:pPr>
            <a:r>
              <a:rPr sz="1050" b="0">
                <a:solidFill>
                  <a:srgbClr val="AAC2B8"/>
                </a:solidFill>
              </a:rPr>
              <a:t>Airline Check-In Outage Demo  |  3/6</a:t>
            </a:r>
          </a:p>
        </p:txBody>
      </p:sp>
    </p:spTree>
    <p:extLst>
      <p:ext uri="{BB962C8B-B14F-4D97-AF65-F5344CB8AC3E}">
        <p14:creationId xmlns:p14="http://schemas.microsoft.com/office/powerpoint/2010/main" val="12440218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ECA717-3E77-4D40-9AA3-9662299E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D69E"/>
                </a:solidFill>
              </a:defRPr>
            </a:pPr>
            <a:r>
              <a:rPr sz="1200" b="1">
                <a:solidFill>
                  <a:srgbClr val="55D69E"/>
                </a:solidFill>
              </a:rPr>
              <a:t>AGENT PASSPORT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B30E6-4E20-4866-8487-CD5D867F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4FBF7"/>
                </a:solidFill>
              </a:defRPr>
            </a:pPr>
            <a:r>
              <a:rPr sz="3000" b="1">
                <a:solidFill>
                  <a:srgbClr val="F4FBF7"/>
                </a:solidFill>
              </a:rPr>
              <a:t>Demo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EEF50-06A7-471B-B705-0359F281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9E"/>
          </a:solidFill>
          <a:ln xmlns:a="http://schemas.openxmlformats.org/drawingml/2006/main" w="0">
            <a:solidFill>
              <a:srgbClr val="55D69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D84DF-87E0-40D9-AF2E-CA9799B1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30480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0201C"/>
          </a:solidFill>
          <a:ln xmlns:a="http://schemas.openxmlformats.org/drawingml/2006/main" w="9525">
            <a:solidFill>
              <a:srgbClr val="2E4A4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200BF-2483-4BA7-90E3-71CF0974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5D69E"/>
                </a:solidFill>
              </a:defRPr>
            </a:pPr>
            <a:r>
              <a:rPr sz="2400" b="1">
                <a:solidFill>
                  <a:srgbClr val="55D69E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6B426C-4A47-4C5A-8D56-44AF2B82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526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BF7"/>
                </a:solidFill>
              </a:defRPr>
            </a:pPr>
            <a:r>
              <a:rPr sz="1800" b="1">
                <a:solidFill>
                  <a:srgbClr val="F4FBF7"/>
                </a:solidFill>
              </a:rPr>
              <a:t>Outage detected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D7F53F-C1C2-4FF4-9113-252CF253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3365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C2B8"/>
                </a:solidFill>
              </a:defRPr>
            </a:pPr>
            <a:r>
              <a:rPr sz="1275" b="0">
                <a:solidFill>
                  <a:srgbClr val="AAC2B8"/>
                </a:solidFill>
              </a:rPr>
              <a:t>Timeout spike across kiosks, mobile check-in, and bag drop.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CEE737-BBD9-461A-8623-DE4D2AE4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24050"/>
            <a:ext cx="30480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0201C"/>
          </a:solidFill>
          <a:ln xmlns:a="http://schemas.openxmlformats.org/drawingml/2006/main" w="9525">
            <a:solidFill>
              <a:srgbClr val="2E4A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415513-A225-4D36-B03B-6B41564D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5D69E"/>
                </a:solidFill>
              </a:defRPr>
            </a:pPr>
            <a:r>
              <a:rPr sz="2400" b="1">
                <a:solidFill>
                  <a:srgbClr val="55D69E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8DFBC9-29C8-43BF-9BC6-F2F328C4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526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BF7"/>
                </a:solidFill>
              </a:defRPr>
            </a:pPr>
            <a:r>
              <a:rPr sz="1800" b="1">
                <a:solidFill>
                  <a:srgbClr val="F4FBF7"/>
                </a:solidFill>
              </a:rPr>
              <a:t>Passport issued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7BAC14-D34C-4742-B6A7-2CC67CDA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3365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C2B8"/>
                </a:solidFill>
              </a:defRPr>
            </a:pPr>
            <a:r>
              <a:rPr sz="1275" b="0">
                <a:solidFill>
                  <a:srgbClr val="AAC2B8"/>
                </a:solidFill>
              </a:rPr>
              <a:t>SPIFFE workload maps to registered agent identity.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54CD24-41B6-4567-8BEC-7A500BC0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24050"/>
            <a:ext cx="30480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0201C"/>
          </a:solidFill>
          <a:ln xmlns:a="http://schemas.openxmlformats.org/drawingml/2006/main" w="9525">
            <a:solidFill>
              <a:srgbClr val="2E4A4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343AC8-D97D-4893-AAA3-BC7B6D42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5D69E"/>
                </a:solidFill>
              </a:defRPr>
            </a:pPr>
            <a:r>
              <a:rPr sz="2400" b="1">
                <a:solidFill>
                  <a:srgbClr val="55D69E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B2115-BE1A-4E79-A567-4D9E452C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526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BF7"/>
                </a:solidFill>
              </a:defRPr>
            </a:pPr>
            <a:r>
              <a:rPr sz="1800" b="1">
                <a:solidFill>
                  <a:srgbClr val="F4FBF7"/>
                </a:solidFill>
              </a:rPr>
              <a:t>Delegation visible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B63FF7-55E6-4787-AD1B-2294E635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3365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C2B8"/>
                </a:solidFill>
              </a:defRPr>
            </a:pPr>
            <a:r>
              <a:rPr sz="1275" b="0">
                <a:solidFill>
                  <a:srgbClr val="AAC2B8"/>
                </a:solidFill>
              </a:rPr>
              <a:t>ServiceNow invokes specialist agents inside incident scope.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192B54-97F6-425B-B640-621EBF5F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30480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0201C"/>
          </a:solidFill>
          <a:ln xmlns:a="http://schemas.openxmlformats.org/drawingml/2006/main" w="9525">
            <a:solidFill>
              <a:srgbClr val="2E4A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98B8DA-9A00-4F5B-8917-AFB4A5FB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5D69E"/>
                </a:solidFill>
              </a:defRPr>
            </a:pPr>
            <a:r>
              <a:rPr sz="2400" b="1">
                <a:solidFill>
                  <a:srgbClr val="55D69E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472AE5-F984-4580-8365-0A9C852A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243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BF7"/>
                </a:solidFill>
              </a:defRPr>
            </a:pPr>
            <a:r>
              <a:rPr sz="1800" b="1">
                <a:solidFill>
                  <a:srgbClr val="F4FBF7"/>
                </a:solidFill>
              </a:rPr>
              <a:t>Risk gate blocks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A59DCE-D3A0-4663-A4BF-42C6866A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053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C2B8"/>
                </a:solidFill>
              </a:defRPr>
            </a:pPr>
            <a:r>
              <a:rPr sz="1275" b="0">
                <a:solidFill>
                  <a:srgbClr val="AAC2B8"/>
                </a:solidFill>
              </a:rPr>
              <a:t>Firewall rollback requires human approval.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503443-B900-4CB7-9D37-0E0198FD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95700"/>
            <a:ext cx="30480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0201C"/>
          </a:solidFill>
          <a:ln xmlns:a="http://schemas.openxmlformats.org/drawingml/2006/main" w="9525">
            <a:solidFill>
              <a:srgbClr val="2E4A4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34FF70-A9C0-4201-83F7-09786B50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052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5D69E"/>
                </a:solidFill>
              </a:defRPr>
            </a:pPr>
            <a:r>
              <a:rPr sz="2400" b="1">
                <a:solidFill>
                  <a:srgbClr val="55D69E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418FA8-8400-49A2-923A-1CD31054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9243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BF7"/>
                </a:solidFill>
              </a:defRPr>
            </a:pPr>
            <a:r>
              <a:rPr sz="1800" b="1">
                <a:solidFill>
                  <a:srgbClr val="F4FBF7"/>
                </a:solidFill>
              </a:rPr>
              <a:t>Scoped secret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758B25-EACF-4C90-BAC1-1EC12762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053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C2B8"/>
                </a:solidFill>
              </a:defRPr>
            </a:pPr>
            <a:r>
              <a:rPr sz="1275" b="0">
                <a:solidFill>
                  <a:srgbClr val="AAC2B8"/>
                </a:solidFill>
              </a:rPr>
              <a:t>Temporary credential released only for approved target.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EE087F-0997-4F61-88CD-C27D5116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95700"/>
            <a:ext cx="30480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0201C"/>
          </a:solidFill>
          <a:ln xmlns:a="http://schemas.openxmlformats.org/drawingml/2006/main" w="9525">
            <a:solidFill>
              <a:srgbClr val="2E4A4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948F00-727C-4787-A76B-21E766D5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052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5D69E"/>
                </a:solidFill>
              </a:defRPr>
            </a:pPr>
            <a:r>
              <a:rPr sz="2400" b="1">
                <a:solidFill>
                  <a:srgbClr val="55D69E"/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CD3F9E-6619-4873-8135-80F695D0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243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BF7"/>
                </a:solidFill>
              </a:defRPr>
            </a:pPr>
            <a:r>
              <a:rPr sz="1800" b="1">
                <a:solidFill>
                  <a:srgbClr val="F4FBF7"/>
                </a:solidFill>
              </a:rPr>
              <a:t>Audit proof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F77F3C-D4C5-4453-B781-99BD2E61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053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C2B8"/>
                </a:solidFill>
              </a:defRPr>
            </a:pPr>
            <a:r>
              <a:rPr sz="1275" b="0">
                <a:solidFill>
                  <a:srgbClr val="AAC2B8"/>
                </a:solidFill>
              </a:rPr>
              <a:t>Every decision and action appears in the timeline.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79FFC-217E-4BCB-993E-D8AFB15D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C2B8"/>
                </a:solidFill>
              </a:defRPr>
            </a:pPr>
            <a:r>
              <a:rPr sz="1050" b="0">
                <a:solidFill>
                  <a:srgbClr val="AAC2B8"/>
                </a:solidFill>
              </a:rPr>
              <a:t>Airline Check-In Outage Demo  |  4/6</a:t>
            </a:r>
          </a:p>
        </p:txBody>
      </p:sp>
    </p:spTree>
    <p:extLst>
      <p:ext uri="{BB962C8B-B14F-4D97-AF65-F5344CB8AC3E}">
        <p14:creationId xmlns:p14="http://schemas.microsoft.com/office/powerpoint/2010/main" val="17359227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8725DA-5C4D-45F4-B114-A2853DE7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D69E"/>
                </a:solidFill>
              </a:defRPr>
            </a:pPr>
            <a:r>
              <a:rPr sz="1200" b="1">
                <a:solidFill>
                  <a:srgbClr val="55D69E"/>
                </a:solidFill>
              </a:rPr>
              <a:t>AGENT PASSPORT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C4E488-528E-46AE-9673-3F5A3A8A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4FBF7"/>
                </a:solidFill>
              </a:defRPr>
            </a:pPr>
            <a:r>
              <a:rPr sz="3000" b="1">
                <a:solidFill>
                  <a:srgbClr val="F4FBF7"/>
                </a:solidFill>
              </a:rPr>
              <a:t>What we built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E3611C-5772-4D43-921E-91B6B0C1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9E"/>
          </a:solidFill>
          <a:ln xmlns:a="http://schemas.openxmlformats.org/drawingml/2006/main" w="0">
            <a:solidFill>
              <a:srgbClr val="55D69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9F9EC8-8401-4085-8FE0-FCC73B70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69E"/>
          </a:solidFill>
          <a:ln xmlns:a="http://schemas.openxmlformats.org/drawingml/2006/main" w="0">
            <a:solidFill>
              <a:srgbClr val="55D69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3924F-E534-4483-B691-E7D1EFBE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955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BF7"/>
                </a:solidFill>
              </a:defRPr>
            </a:pPr>
            <a:r>
              <a:rPr sz="1650" b="0">
                <a:solidFill>
                  <a:srgbClr val="F4FBF7"/>
                </a:solidFill>
              </a:rPr>
              <a:t>React dashboard with incident status, presenter mode, business-impact facts, and Agent Passport trust-layer lane.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41E572-E62A-4F43-A9DD-C3C5093B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B7FF"/>
          </a:solidFill>
          <a:ln xmlns:a="http://schemas.openxmlformats.org/drawingml/2006/main" w="0">
            <a:solidFill>
              <a:srgbClr val="73B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32301A-CA20-40E3-A12A-D7C073F8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813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BF7"/>
                </a:solidFill>
              </a:defRPr>
            </a:pPr>
            <a:r>
              <a:rPr sz="1650" b="0">
                <a:solidFill>
                  <a:srgbClr val="F4FBF7"/>
                </a:solidFill>
              </a:rPr>
              <a:t>Static registry for seven airline demo agents with SPIFFE-style runtime identities, owners, versions, tools, and delegation rules.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B52F45-8540-4D6E-84A4-F67BE74F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955"/>
          </a:solidFill>
          <a:ln xmlns:a="http://schemas.openxmlformats.org/drawingml/2006/main" w="0">
            <a:solidFill>
              <a:srgbClr val="F7B9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70C631-E9D2-4F5D-80B1-17F7989B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671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BF7"/>
                </a:solidFill>
              </a:defRPr>
            </a:pPr>
            <a:r>
              <a:rPr sz="1650" b="0">
                <a:solidFill>
                  <a:srgbClr val="F4FBF7"/>
                </a:solidFill>
              </a:rPr>
              <a:t>Backend-like TypeScript services for workload verification, passport issuance, policy evaluation, approval, audit, and scoped secret release.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DFCEA-E548-4395-98F8-FB5C3178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7BDE9C-4221-4260-912C-A13B075D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529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BF7"/>
                </a:solidFill>
              </a:defRPr>
            </a:pPr>
            <a:r>
              <a:rPr sz="1650" b="0">
                <a:solidFill>
                  <a:srgbClr val="F4FBF7"/>
                </a:solidFill>
              </a:rPr>
              <a:t>Failure demos for no passport, expired passport, forged token, invalid delegation, prompt injection, and tightly scoped credentials.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389067-0934-4DFC-88FE-5BF5BBFF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04850"/>
            <a:ext cx="2952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62B25"/>
          </a:solidFill>
          <a:ln xmlns:a="http://schemas.openxmlformats.org/drawingml/2006/main" w="9525">
            <a:solidFill>
              <a:srgbClr val="55D69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B5FC72-71C4-4415-8CCA-BA1260B2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9525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A7F3D0"/>
                </a:solidFill>
              </a:defRPr>
            </a:pPr>
            <a:r>
              <a:rPr sz="2250" b="1">
                <a:solidFill>
                  <a:srgbClr val="A7F3D0"/>
                </a:solidFill>
              </a:rPr>
              <a:t>12 passing tests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DEED45-4AE0-4B1D-91F4-574E8A2A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C2B8"/>
                </a:solidFill>
              </a:defRPr>
            </a:pPr>
            <a:r>
              <a:rPr sz="1050" b="0">
                <a:solidFill>
                  <a:srgbClr val="AAC2B8"/>
                </a:solidFill>
              </a:rPr>
              <a:t>Airline Check-In Outage Demo  |  5/6</a:t>
            </a:r>
          </a:p>
        </p:txBody>
      </p:sp>
    </p:spTree>
    <p:extLst>
      <p:ext uri="{BB962C8B-B14F-4D97-AF65-F5344CB8AC3E}">
        <p14:creationId xmlns:p14="http://schemas.microsoft.com/office/powerpoint/2010/main" val="13682252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8EA33F-2F77-49B2-B3B9-0A8556C6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D69E"/>
                </a:solidFill>
              </a:defRPr>
            </a:pPr>
            <a:r>
              <a:rPr sz="1200" b="1">
                <a:solidFill>
                  <a:srgbClr val="55D69E"/>
                </a:solidFill>
              </a:rPr>
              <a:t>AGENT PASSPORT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ECE393-4515-4E4E-BBE8-899797A4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4FBF7"/>
                </a:solidFill>
              </a:defRPr>
            </a:pPr>
            <a:r>
              <a:rPr sz="3000" b="1">
                <a:solidFill>
                  <a:srgbClr val="F4FBF7"/>
                </a:solidFill>
              </a:rPr>
              <a:t>Current status and handoff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7467A6-CC57-4BE8-BAFE-78A87EE0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9E"/>
          </a:solidFill>
          <a:ln xmlns:a="http://schemas.openxmlformats.org/drawingml/2006/main" w="0">
            <a:solidFill>
              <a:srgbClr val="55D69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1E080-DBFA-4FCE-A0D4-ADA5B465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69E"/>
          </a:solidFill>
          <a:ln xmlns:a="http://schemas.openxmlformats.org/drawingml/2006/main" w="0">
            <a:solidFill>
              <a:srgbClr val="55D69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14925-1D4F-4A46-B954-66A7E4BF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002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BF7"/>
                </a:solidFill>
              </a:defRPr>
            </a:pPr>
            <a:r>
              <a:rPr sz="1650" b="0">
                <a:solidFill>
                  <a:srgbClr val="F4FBF7"/>
                </a:solidFill>
              </a:rPr>
              <a:t>Tester approval gate iterated through security blockers until fixes were covered by tests.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8B4794-5E72-42A4-B862-AD70C4E6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69E"/>
          </a:solidFill>
          <a:ln xmlns:a="http://schemas.openxmlformats.org/drawingml/2006/main" w="0">
            <a:solidFill>
              <a:srgbClr val="55D6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C8C4C-43D9-484B-B39F-657AB699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BF7"/>
                </a:solidFill>
              </a:defRPr>
            </a:pPr>
            <a:r>
              <a:rPr sz="1650" b="0">
                <a:solidFill>
                  <a:srgbClr val="F4FBF7"/>
                </a:solidFill>
              </a:rPr>
              <a:t>Use-case expert approved the judge-facing story, richer incident facts, presenter mode, and trust-layer lane.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833AFA-4D5B-4E13-986C-6BF59025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69E"/>
          </a:solidFill>
          <a:ln xmlns:a="http://schemas.openxmlformats.org/drawingml/2006/main" w="0">
            <a:solidFill>
              <a:srgbClr val="55D69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E2B0CD-043D-4186-9DDF-7B8A9624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BF7"/>
                </a:solidFill>
              </a:defRPr>
            </a:pPr>
            <a:r>
              <a:rPr sz="1650" b="0">
                <a:solidFill>
                  <a:srgbClr val="F4FBF7"/>
                </a:solidFill>
              </a:rPr>
              <a:t>`npm run verify` passes: Vitest plus production Vite build.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83607A-D301-4869-9D66-12C2F0D7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955"/>
          </a:solidFill>
          <a:ln xmlns:a="http://schemas.openxmlformats.org/drawingml/2006/main" w="0">
            <a:solidFill>
              <a:srgbClr val="F7B9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82D23E-F0A0-493F-9D98-43590855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BF7"/>
                </a:solidFill>
              </a:defRPr>
            </a:pPr>
            <a:r>
              <a:rPr sz="1650" b="0">
                <a:solidFill>
                  <a:srgbClr val="F4FBF7"/>
                </a:solidFill>
              </a:rPr>
              <a:t>Remaining production gaps are explicit: real JWT signing, persistent audit storage, and real 1Password/Vault integration.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C00CB7-EA2F-451D-96AF-C86BBBE5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62B25"/>
          </a:solidFill>
          <a:ln xmlns:a="http://schemas.openxmlformats.org/drawingml/2006/main" w="9525">
            <a:solidFill>
              <a:srgbClr val="2E4A4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E9567D-BBC7-4AE1-A179-3BD4DD44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7F3D0"/>
                </a:solidFill>
              </a:defRPr>
            </a:pPr>
            <a:r>
              <a:rPr sz="2100" b="1">
                <a:solidFill>
                  <a:srgbClr val="A7F3D0"/>
                </a:solidFill>
              </a:rPr>
              <a:t>Run locally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5EF5F4-C9C6-46AA-91E8-A0E09B4F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146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BF7"/>
                </a:solidFill>
              </a:defRPr>
            </a:pPr>
            <a:r>
              <a:rPr sz="1800" b="0">
                <a:solidFill>
                  <a:srgbClr val="F4FBF7"/>
                </a:solidFill>
              </a:rPr>
              <a:t>npm install</a:t>
            </a:r>
          </a:p>
          <a:p xmlns:a="http://schemas.openxmlformats.org/drawingml/2006/main">
            <a:pPr algn="l">
              <a:defRPr sz="1800" b="0">
                <a:solidFill>
                  <a:srgbClr val="F4FBF7"/>
                </a:solidFill>
              </a:defRPr>
            </a:pPr>
            <a:r>
              <a:rPr sz="1800" b="0">
                <a:solidFill>
                  <a:srgbClr val="F4FBF7"/>
                </a:solidFill>
              </a:rPr>
              <a:t>npm run dev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F4FBF7"/>
                </a:solidFill>
              </a:defRPr>
            </a:pPr>
            <a:r>
              <a:rPr sz="1800" b="0">
                <a:solidFill>
                  <a:srgbClr val="F4FBF7"/>
                </a:solidFill>
              </a:rPr>
              <a:t>Optional API:</a:t>
            </a:r>
          </a:p>
          <a:p xmlns:a="http://schemas.openxmlformats.org/drawingml/2006/main">
            <a:pPr algn="l">
              <a:defRPr sz="1800" b="0">
                <a:solidFill>
                  <a:srgbClr val="F4FBF7"/>
                </a:solidFill>
              </a:defRPr>
            </a:pPr>
            <a:r>
              <a:rPr sz="1800" b="0">
                <a:solidFill>
                  <a:srgbClr val="F4FBF7"/>
                </a:solidFill>
              </a:rPr>
              <a:t>npm run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3A1715-07E5-4FBE-AEDE-B89324F9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435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5D69E"/>
                </a:solidFill>
              </a:defRPr>
            </a:pPr>
            <a:r>
              <a:rPr sz="1800" b="1">
                <a:solidFill>
                  <a:srgbClr val="55D69E"/>
                </a:solidFill>
              </a:rPr>
              <a:t>Open http://127.0.0.1:5173/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DEC25A-4080-4D4D-8465-05A2A69A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C2B8"/>
                </a:solidFill>
              </a:defRPr>
            </a:pPr>
            <a:r>
              <a:rPr sz="1050" b="0">
                <a:solidFill>
                  <a:srgbClr val="AAC2B8"/>
                </a:solidFill>
              </a:rPr>
              <a:t>Airline Check-In Outage Demo  |  6/6</a:t>
            </a:r>
          </a:p>
        </p:txBody>
      </p:sp>
    </p:spTree>
    <p:extLst>
      <p:ext uri="{BB962C8B-B14F-4D97-AF65-F5344CB8AC3E}">
        <p14:creationId xmlns:p14="http://schemas.microsoft.com/office/powerpoint/2010/main" val="5916992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2026-06-28T00:06:09.6410000Z</dcterms:created>
  <dcterms:modified xsi:type="dcterms:W3CDTF">2026-06-28T00:06:09.6410000Z</dcterms:modified>
</coreProperties>
</file>